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aleway"/>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6fa3c89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6fa3c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c6fa3c89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c6fa3c8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c6fa3c898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c6fa3c8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a3c898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a3c89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6fa3c898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6fa3c89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0aa4553178_0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0aa455317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aa4553178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0aa455317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0aa4553178_0_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0aa455317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0aa4553178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0aa455317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0aa4553178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0aa455317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0aa4553178_0_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0aa455317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c6fa3c898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c6fa3c89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0aa4553178_0_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0aa455317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ata.unhcr.org/en/situations/sudansituation" TargetMode="External"/><Relationship Id="rId4" Type="http://schemas.openxmlformats.org/officeDocument/2006/relationships/hyperlink" Target="https://data.humdata.org/dataset/sudan-acled-conflict-data" TargetMode="External"/><Relationship Id="rId5" Type="http://schemas.openxmlformats.org/officeDocument/2006/relationships/hyperlink" Target="https://acleddata.com/data-export-tool/" TargetMode="External"/><Relationship Id="rId6" Type="http://schemas.openxmlformats.org/officeDocument/2006/relationships/hyperlink" Target="https://www.ipcinfo.org/ipc-country-analysis/details-map/en/c/1156504/?iso3=SDN" TargetMode="External"/><Relationship Id="rId7" Type="http://schemas.openxmlformats.org/officeDocument/2006/relationships/hyperlink" Target="https://fews.ne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Risk Report:</a:t>
            </a:r>
            <a:br>
              <a:rPr lang="en"/>
            </a:br>
            <a:r>
              <a:rPr lang="en"/>
              <a:t>Conflict Analysis: Sudan</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Anshul Kamble • 10.11.2024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703800" y="-229200"/>
            <a:ext cx="4045200" cy="131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Overview</a:t>
            </a:r>
            <a:endParaRPr/>
          </a:p>
        </p:txBody>
      </p:sp>
      <p:sp>
        <p:nvSpPr>
          <p:cNvPr id="79" name="Google Shape;79;p14"/>
          <p:cNvSpPr txBox="1"/>
          <p:nvPr>
            <p:ph idx="2" type="body"/>
          </p:nvPr>
        </p:nvSpPr>
        <p:spPr>
          <a:xfrm>
            <a:off x="239725" y="974350"/>
            <a:ext cx="8536800" cy="3695100"/>
          </a:xfrm>
          <a:prstGeom prst="rect">
            <a:avLst/>
          </a:prstGeom>
        </p:spPr>
        <p:txBody>
          <a:bodyPr anchorCtr="0" anchor="ctr"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lang="en" sz="1400">
                <a:solidFill>
                  <a:schemeClr val="dk2"/>
                </a:solidFill>
                <a:latin typeface="Arial"/>
                <a:ea typeface="Arial"/>
                <a:cs typeface="Arial"/>
                <a:sym typeface="Arial"/>
              </a:rPr>
              <a:t>Sudan is currently experiencing a severe crisis marked by escalating political violence and widespread food insecurity. The conflict primarily involves two major factions: the </a:t>
            </a:r>
            <a:r>
              <a:rPr b="1" lang="en" sz="1400">
                <a:solidFill>
                  <a:schemeClr val="dk2"/>
                </a:solidFill>
                <a:latin typeface="Arial"/>
                <a:ea typeface="Arial"/>
                <a:cs typeface="Arial"/>
                <a:sym typeface="Arial"/>
              </a:rPr>
              <a:t>protestors </a:t>
            </a:r>
            <a:r>
              <a:rPr lang="en" sz="1400">
                <a:solidFill>
                  <a:schemeClr val="dk2"/>
                </a:solidFill>
                <a:latin typeface="Arial"/>
                <a:ea typeface="Arial"/>
                <a:cs typeface="Arial"/>
                <a:sym typeface="Arial"/>
              </a:rPr>
              <a:t>and </a:t>
            </a:r>
            <a:r>
              <a:rPr b="1" lang="en" sz="1400">
                <a:solidFill>
                  <a:schemeClr val="dk2"/>
                </a:solidFill>
                <a:latin typeface="Arial"/>
                <a:ea typeface="Arial"/>
                <a:cs typeface="Arial"/>
                <a:sym typeface="Arial"/>
              </a:rPr>
              <a:t>rioters</a:t>
            </a:r>
            <a:r>
              <a:rPr lang="en" sz="1400">
                <a:solidFill>
                  <a:schemeClr val="dk2"/>
                </a:solidFill>
                <a:latin typeface="Arial"/>
                <a:ea typeface="Arial"/>
                <a:cs typeface="Arial"/>
                <a:sym typeface="Arial"/>
              </a:rPr>
              <a:t>. T</a:t>
            </a:r>
            <a:r>
              <a:rPr lang="en" sz="1400" u="sng">
                <a:solidFill>
                  <a:schemeClr val="dk2"/>
                </a:solidFill>
                <a:latin typeface="Arial"/>
                <a:ea typeface="Arial"/>
                <a:cs typeface="Arial"/>
                <a:sym typeface="Arial"/>
              </a:rPr>
              <a:t>his conflict fired up as the future-</a:t>
            </a:r>
            <a:r>
              <a:rPr lang="en" sz="1400" u="sng">
                <a:solidFill>
                  <a:schemeClr val="dk2"/>
                </a:solidFill>
                <a:latin typeface="Arial"/>
                <a:ea typeface="Arial"/>
                <a:cs typeface="Arial"/>
                <a:sym typeface="Arial"/>
              </a:rPr>
              <a:t>democratic government was dissolved by Omar Al-Bashir,</a:t>
            </a:r>
            <a:r>
              <a:rPr lang="en" sz="1400">
                <a:solidFill>
                  <a:schemeClr val="dk2"/>
                </a:solidFill>
                <a:latin typeface="Arial"/>
                <a:ea typeface="Arial"/>
                <a:cs typeface="Arial"/>
                <a:sym typeface="Arial"/>
              </a:rPr>
              <a:t> and led</a:t>
            </a:r>
            <a:r>
              <a:rPr lang="en" sz="1400">
                <a:solidFill>
                  <a:schemeClr val="dk2"/>
                </a:solidFill>
                <a:latin typeface="Arial"/>
                <a:ea typeface="Arial"/>
                <a:cs typeface="Arial"/>
                <a:sym typeface="Arial"/>
              </a:rPr>
              <a:t> to massive civilian displacement, disrupted agricultural activities, and strained food supply chains, plunging millions of people into </a:t>
            </a:r>
            <a:r>
              <a:rPr b="1" lang="en" sz="1400">
                <a:solidFill>
                  <a:schemeClr val="dk2"/>
                </a:solidFill>
                <a:latin typeface="Arial"/>
                <a:ea typeface="Arial"/>
                <a:cs typeface="Arial"/>
                <a:sym typeface="Arial"/>
              </a:rPr>
              <a:t>acute food insecurity</a:t>
            </a:r>
            <a:r>
              <a:rPr lang="en" sz="1400">
                <a:solidFill>
                  <a:schemeClr val="dk2"/>
                </a:solidFill>
                <a:latin typeface="Arial"/>
                <a:ea typeface="Arial"/>
                <a:cs typeface="Arial"/>
                <a:sym typeface="Arial"/>
              </a:rPr>
              <a:t>. The violence has also hindered economic stability, further aggravating an already critical humanitarian situation.</a:t>
            </a:r>
            <a:endParaRPr sz="1400">
              <a:solidFill>
                <a:schemeClr val="dk2"/>
              </a:solidFill>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lang="en" sz="1400">
                <a:solidFill>
                  <a:schemeClr val="dk2"/>
                </a:solidFill>
                <a:latin typeface="Arial"/>
                <a:ea typeface="Arial"/>
                <a:cs typeface="Arial"/>
                <a:sym typeface="Arial"/>
              </a:rPr>
              <a:t>This situation is particularly important for the </a:t>
            </a:r>
            <a:r>
              <a:rPr b="1" lang="en" sz="1400">
                <a:solidFill>
                  <a:schemeClr val="dk2"/>
                </a:solidFill>
                <a:latin typeface="Arial"/>
                <a:ea typeface="Arial"/>
                <a:cs typeface="Arial"/>
                <a:sym typeface="Arial"/>
              </a:rPr>
              <a:t>United Nations Development Programme (UNDP)</a:t>
            </a:r>
            <a:r>
              <a:rPr lang="en" sz="1400">
                <a:solidFill>
                  <a:schemeClr val="dk2"/>
                </a:solidFill>
                <a:latin typeface="Arial"/>
                <a:ea typeface="Arial"/>
                <a:cs typeface="Arial"/>
                <a:sym typeface="Arial"/>
              </a:rPr>
              <a:t>, which is responsible for fostering sustainable development and peacebuilding. By analyzing data from </a:t>
            </a:r>
            <a:r>
              <a:rPr b="1" lang="en" sz="1400">
                <a:solidFill>
                  <a:schemeClr val="dk2"/>
                </a:solidFill>
                <a:latin typeface="Arial"/>
                <a:ea typeface="Arial"/>
                <a:cs typeface="Arial"/>
                <a:sym typeface="Arial"/>
              </a:rPr>
              <a:t>ACLED</a:t>
            </a:r>
            <a:r>
              <a:rPr lang="en" sz="1400">
                <a:solidFill>
                  <a:schemeClr val="dk2"/>
                </a:solidFill>
                <a:latin typeface="Arial"/>
                <a:ea typeface="Arial"/>
                <a:cs typeface="Arial"/>
                <a:sym typeface="Arial"/>
              </a:rPr>
              <a:t>, </a:t>
            </a:r>
            <a:r>
              <a:rPr b="1" lang="en" sz="1400">
                <a:solidFill>
                  <a:schemeClr val="dk2"/>
                </a:solidFill>
                <a:latin typeface="Arial"/>
                <a:ea typeface="Arial"/>
                <a:cs typeface="Arial"/>
                <a:sym typeface="Arial"/>
              </a:rPr>
              <a:t>UNHCR</a:t>
            </a:r>
            <a:r>
              <a:rPr lang="en" sz="1400">
                <a:solidFill>
                  <a:schemeClr val="dk2"/>
                </a:solidFill>
                <a:latin typeface="Arial"/>
                <a:ea typeface="Arial"/>
                <a:cs typeface="Arial"/>
                <a:sym typeface="Arial"/>
              </a:rPr>
              <a:t>, and </a:t>
            </a:r>
            <a:r>
              <a:rPr b="1" lang="en" sz="1400">
                <a:solidFill>
                  <a:schemeClr val="dk2"/>
                </a:solidFill>
                <a:latin typeface="Arial"/>
                <a:ea typeface="Arial"/>
                <a:cs typeface="Arial"/>
                <a:sym typeface="Arial"/>
              </a:rPr>
              <a:t>FEWS.NET</a:t>
            </a:r>
            <a:r>
              <a:rPr lang="en" sz="1400">
                <a:solidFill>
                  <a:schemeClr val="dk2"/>
                </a:solidFill>
                <a:latin typeface="Arial"/>
                <a:ea typeface="Arial"/>
                <a:cs typeface="Arial"/>
                <a:sym typeface="Arial"/>
              </a:rPr>
              <a:t>, this project examines the interplay between political violence, refugee movements, and food insecurity in Sudan. Understanding these dynamics is essential for UNDP to develop effective strategies that address both immediate humanitarian needs and long-term stability. The findings help guide decisions on resource allocation, peacebuilding efforts, and international humanitarian responses, ultimately aiming to mitigate the risks of famine and promote a peaceful transition in Sudan.</a:t>
            </a:r>
            <a:endParaRPr sz="1400">
              <a:solidFill>
                <a:schemeClr val="dk2"/>
              </a:solidFill>
              <a:latin typeface="Arial"/>
              <a:ea typeface="Arial"/>
              <a:cs typeface="Arial"/>
              <a:sym typeface="Arial"/>
            </a:endParaRPr>
          </a:p>
          <a:p>
            <a:pPr indent="0" lvl="0" marL="0" rtl="0" algn="l">
              <a:spcBef>
                <a:spcPts val="1200"/>
              </a:spcBef>
              <a:spcAft>
                <a:spcPts val="1600"/>
              </a:spcAft>
              <a:buNone/>
            </a:pPr>
            <a:r>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3479825" y="447763"/>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rPr>
              <a:t>Profile and Nature of Violence in Sudan</a:t>
            </a:r>
            <a:endParaRPr sz="2100">
              <a:solidFill>
                <a:schemeClr val="dk1"/>
              </a:solidFill>
            </a:endParaRPr>
          </a:p>
        </p:txBody>
      </p:sp>
      <p:sp>
        <p:nvSpPr>
          <p:cNvPr id="85" name="Google Shape;85;p15"/>
          <p:cNvSpPr txBox="1"/>
          <p:nvPr>
            <p:ph idx="1" type="body"/>
          </p:nvPr>
        </p:nvSpPr>
        <p:spPr>
          <a:xfrm>
            <a:off x="6072603" y="1070538"/>
            <a:ext cx="3071400" cy="30024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b="1" lang="en" sz="1900"/>
              <a:t>This bar blot shows the </a:t>
            </a:r>
            <a:r>
              <a:rPr b="1" lang="en" sz="1900"/>
              <a:t>frequency</a:t>
            </a:r>
            <a:r>
              <a:rPr b="1" lang="en" sz="1900"/>
              <a:t> of the most </a:t>
            </a:r>
            <a:r>
              <a:rPr b="1" lang="en" sz="1900"/>
              <a:t>occurring</a:t>
            </a:r>
            <a:r>
              <a:rPr b="1" lang="en" sz="1900"/>
              <a:t> kinds of violence in Sudan, with Political Violence reaching staggering heights.</a:t>
            </a:r>
            <a:endParaRPr b="1" sz="1900"/>
          </a:p>
          <a:p>
            <a:pPr indent="0" lvl="0" marL="457200" rtl="0" algn="l">
              <a:spcBef>
                <a:spcPts val="1200"/>
              </a:spcBef>
              <a:spcAft>
                <a:spcPts val="1200"/>
              </a:spcAft>
              <a:buNone/>
            </a:pPr>
            <a:r>
              <a:t/>
            </a:r>
            <a:endParaRPr b="1" sz="1900"/>
          </a:p>
        </p:txBody>
      </p:sp>
      <p:pic>
        <p:nvPicPr>
          <p:cNvPr id="86" name="Google Shape;86;p15"/>
          <p:cNvPicPr preferRelativeResize="0"/>
          <p:nvPr/>
        </p:nvPicPr>
        <p:blipFill>
          <a:blip r:embed="rId3">
            <a:alphaModFix/>
          </a:blip>
          <a:stretch>
            <a:fillRect/>
          </a:stretch>
        </p:blipFill>
        <p:spPr>
          <a:xfrm>
            <a:off x="259725" y="1070550"/>
            <a:ext cx="5812876" cy="3598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idx="2" type="body"/>
          </p:nvPr>
        </p:nvSpPr>
        <p:spPr>
          <a:xfrm>
            <a:off x="5975572" y="570850"/>
            <a:ext cx="30714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Conflict hotspots</a:t>
            </a:r>
            <a:endParaRPr b="1" sz="2100">
              <a:solidFill>
                <a:schemeClr val="dk1"/>
              </a:solidFill>
            </a:endParaRPr>
          </a:p>
          <a:p>
            <a:pPr indent="-330200" lvl="0" marL="457200" rtl="0" algn="l">
              <a:spcBef>
                <a:spcPts val="1600"/>
              </a:spcBef>
              <a:spcAft>
                <a:spcPts val="0"/>
              </a:spcAft>
              <a:buSzPts val="1600"/>
              <a:buChar char="●"/>
            </a:pPr>
            <a:r>
              <a:rPr lang="en" sz="1600"/>
              <a:t>Observation: areas of political violence are majorly the same areas for other kinds of violence. It can be inferred that political violence propels other kinds of violence in some regions.</a:t>
            </a:r>
            <a:endParaRPr sz="1600"/>
          </a:p>
          <a:p>
            <a:pPr indent="-330200" lvl="0" marL="457200" rtl="0" algn="l">
              <a:spcBef>
                <a:spcPts val="1200"/>
              </a:spcBef>
              <a:spcAft>
                <a:spcPts val="1200"/>
              </a:spcAft>
              <a:buSzPts val="1600"/>
              <a:buChar char="●"/>
            </a:pPr>
            <a:r>
              <a:rPr lang="en" sz="1600"/>
              <a:t>Darfur, Blue Nile, and Khartoum - are the most heated regions in all kinds.</a:t>
            </a:r>
            <a:endParaRPr sz="1600"/>
          </a:p>
        </p:txBody>
      </p:sp>
      <p:pic>
        <p:nvPicPr>
          <p:cNvPr id="92" name="Google Shape;92;p16"/>
          <p:cNvPicPr preferRelativeResize="0"/>
          <p:nvPr/>
        </p:nvPicPr>
        <p:blipFill>
          <a:blip r:embed="rId3">
            <a:alphaModFix/>
          </a:blip>
          <a:stretch>
            <a:fillRect/>
          </a:stretch>
        </p:blipFill>
        <p:spPr>
          <a:xfrm>
            <a:off x="136750" y="1363750"/>
            <a:ext cx="5838825" cy="3241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4025475" y="37270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Main parties involved</a:t>
            </a:r>
            <a:endParaRPr>
              <a:solidFill>
                <a:schemeClr val="dk1"/>
              </a:solidFill>
            </a:endParaRPr>
          </a:p>
        </p:txBody>
      </p:sp>
      <p:sp>
        <p:nvSpPr>
          <p:cNvPr id="98" name="Google Shape;98;p17"/>
          <p:cNvSpPr txBox="1"/>
          <p:nvPr>
            <p:ph idx="2" type="body"/>
          </p:nvPr>
        </p:nvSpPr>
        <p:spPr>
          <a:xfrm>
            <a:off x="5728722" y="1160500"/>
            <a:ext cx="3071400" cy="3002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1200"/>
              </a:spcAft>
              <a:buSzPts val="1600"/>
              <a:buChar char="●"/>
            </a:pPr>
            <a:r>
              <a:rPr lang="en" sz="1600"/>
              <a:t>List of all parties- protestors and </a:t>
            </a:r>
            <a:r>
              <a:rPr lang="en" sz="1600"/>
              <a:t>civilians</a:t>
            </a:r>
            <a:r>
              <a:rPr lang="en" sz="1600"/>
              <a:t> included.</a:t>
            </a:r>
            <a:endParaRPr sz="1800"/>
          </a:p>
        </p:txBody>
      </p:sp>
      <p:pic>
        <p:nvPicPr>
          <p:cNvPr id="99" name="Google Shape;99;p17"/>
          <p:cNvPicPr preferRelativeResize="0"/>
          <p:nvPr/>
        </p:nvPicPr>
        <p:blipFill>
          <a:blip r:embed="rId3">
            <a:alphaModFix/>
          </a:blip>
          <a:stretch>
            <a:fillRect/>
          </a:stretch>
        </p:blipFill>
        <p:spPr>
          <a:xfrm>
            <a:off x="152400" y="1160500"/>
            <a:ext cx="5371526" cy="2909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4025475" y="37270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Topmost rival parties</a:t>
            </a:r>
            <a:endParaRPr>
              <a:solidFill>
                <a:schemeClr val="dk1"/>
              </a:solidFill>
            </a:endParaRPr>
          </a:p>
        </p:txBody>
      </p:sp>
      <p:sp>
        <p:nvSpPr>
          <p:cNvPr id="105" name="Google Shape;105;p18"/>
          <p:cNvSpPr txBox="1"/>
          <p:nvPr>
            <p:ph idx="2" type="body"/>
          </p:nvPr>
        </p:nvSpPr>
        <p:spPr>
          <a:xfrm>
            <a:off x="5728722" y="1160500"/>
            <a:ext cx="3071400" cy="3002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List of all parties with the most number of total events facing each other.</a:t>
            </a:r>
            <a:endParaRPr sz="1600"/>
          </a:p>
          <a:p>
            <a:pPr indent="-330200" lvl="0" marL="457200" rtl="0" algn="l">
              <a:spcBef>
                <a:spcPts val="1200"/>
              </a:spcBef>
              <a:spcAft>
                <a:spcPts val="1200"/>
              </a:spcAft>
              <a:buSzPts val="1600"/>
              <a:buChar char="●"/>
            </a:pPr>
            <a:r>
              <a:rPr lang="en" sz="1600"/>
              <a:t>Format - PartyA-PartyB</a:t>
            </a:r>
            <a:endParaRPr sz="1600"/>
          </a:p>
        </p:txBody>
      </p:sp>
      <p:pic>
        <p:nvPicPr>
          <p:cNvPr id="106" name="Google Shape;106;p18"/>
          <p:cNvPicPr preferRelativeResize="0"/>
          <p:nvPr/>
        </p:nvPicPr>
        <p:blipFill>
          <a:blip r:embed="rId3">
            <a:alphaModFix/>
          </a:blip>
          <a:stretch>
            <a:fillRect/>
          </a:stretch>
        </p:blipFill>
        <p:spPr>
          <a:xfrm>
            <a:off x="77750" y="936350"/>
            <a:ext cx="5805725" cy="3607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4025475" y="37270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Analyzing trends over time</a:t>
            </a:r>
            <a:endParaRPr>
              <a:solidFill>
                <a:schemeClr val="dk1"/>
              </a:solidFill>
            </a:endParaRPr>
          </a:p>
        </p:txBody>
      </p:sp>
      <p:sp>
        <p:nvSpPr>
          <p:cNvPr id="112" name="Google Shape;112;p19"/>
          <p:cNvSpPr txBox="1"/>
          <p:nvPr>
            <p:ph idx="2" type="body"/>
          </p:nvPr>
        </p:nvSpPr>
        <p:spPr>
          <a:xfrm>
            <a:off x="5728722" y="1160500"/>
            <a:ext cx="3071400" cy="3002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1200"/>
              </a:spcAft>
              <a:buSzPts val="1600"/>
              <a:buChar char="●"/>
            </a:pPr>
            <a:r>
              <a:rPr lang="en" sz="1600"/>
              <a:t>The sudden increase in political conflicts in 2022 is due to the dissolvement of the civilian-led government by the coup led by Omar al-Bashir in October 2021.</a:t>
            </a:r>
            <a:endParaRPr sz="1600"/>
          </a:p>
        </p:txBody>
      </p:sp>
      <p:pic>
        <p:nvPicPr>
          <p:cNvPr id="113" name="Google Shape;113;p19"/>
          <p:cNvPicPr preferRelativeResize="0"/>
          <p:nvPr/>
        </p:nvPicPr>
        <p:blipFill>
          <a:blip r:embed="rId3">
            <a:alphaModFix/>
          </a:blip>
          <a:stretch>
            <a:fillRect/>
          </a:stretch>
        </p:blipFill>
        <p:spPr>
          <a:xfrm>
            <a:off x="152400" y="1160500"/>
            <a:ext cx="5423922" cy="33260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4025475" y="372700"/>
            <a:ext cx="47748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Analyzing trends over time for the two blocks</a:t>
            </a:r>
            <a:endParaRPr>
              <a:solidFill>
                <a:schemeClr val="dk1"/>
              </a:solidFill>
            </a:endParaRPr>
          </a:p>
        </p:txBody>
      </p:sp>
      <p:sp>
        <p:nvSpPr>
          <p:cNvPr id="119" name="Google Shape;119;p20"/>
          <p:cNvSpPr txBox="1"/>
          <p:nvPr>
            <p:ph idx="2" type="body"/>
          </p:nvPr>
        </p:nvSpPr>
        <p:spPr>
          <a:xfrm>
            <a:off x="5728872" y="1582600"/>
            <a:ext cx="3071400" cy="3002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1200"/>
              </a:spcAft>
              <a:buSzPts val="1600"/>
              <a:buChar char="●"/>
            </a:pPr>
            <a:r>
              <a:rPr lang="en" sz="1600"/>
              <a:t>With the displacement of a future-democratic </a:t>
            </a:r>
            <a:r>
              <a:rPr lang="en" sz="1600"/>
              <a:t>government</a:t>
            </a:r>
            <a:r>
              <a:rPr lang="en" sz="1600"/>
              <a:t>, the response was increased conflicts initiated by protestors to fight back for democracy, having lived years in dictatorship.</a:t>
            </a:r>
            <a:endParaRPr sz="1600"/>
          </a:p>
        </p:txBody>
      </p:sp>
      <p:pic>
        <p:nvPicPr>
          <p:cNvPr id="120" name="Google Shape;120;p20"/>
          <p:cNvPicPr preferRelativeResize="0"/>
          <p:nvPr/>
        </p:nvPicPr>
        <p:blipFill>
          <a:blip r:embed="rId3">
            <a:alphaModFix/>
          </a:blip>
          <a:stretch>
            <a:fillRect/>
          </a:stretch>
        </p:blipFill>
        <p:spPr>
          <a:xfrm>
            <a:off x="136750" y="1375650"/>
            <a:ext cx="5424071" cy="34163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4369200" y="419600"/>
            <a:ext cx="47748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Refugee connection to political violence</a:t>
            </a:r>
            <a:endParaRPr>
              <a:solidFill>
                <a:schemeClr val="dk1"/>
              </a:solidFill>
            </a:endParaRPr>
          </a:p>
        </p:txBody>
      </p:sp>
      <p:sp>
        <p:nvSpPr>
          <p:cNvPr id="126" name="Google Shape;126;p21"/>
          <p:cNvSpPr txBox="1"/>
          <p:nvPr>
            <p:ph idx="2" type="body"/>
          </p:nvPr>
        </p:nvSpPr>
        <p:spPr>
          <a:xfrm>
            <a:off x="5728872" y="1582600"/>
            <a:ext cx="3071400" cy="3002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This linear regression model shows the relationship between internal refugee population in a city depending on the frequency of conflicts in that city.</a:t>
            </a:r>
            <a:endParaRPr sz="1300"/>
          </a:p>
          <a:p>
            <a:pPr indent="-311150" lvl="0" marL="457200" rtl="0" algn="l">
              <a:spcBef>
                <a:spcPts val="1200"/>
              </a:spcBef>
              <a:spcAft>
                <a:spcPts val="1200"/>
              </a:spcAft>
              <a:buSzPts val="1300"/>
              <a:buChar char="●"/>
            </a:pPr>
            <a:r>
              <a:rPr lang="en" sz="1300"/>
              <a:t>Hotspot cities lead to severe displacement of people internally, forcing people to move out, thus </a:t>
            </a:r>
            <a:r>
              <a:rPr lang="en" sz="1300"/>
              <a:t>increasing</a:t>
            </a:r>
            <a:r>
              <a:rPr lang="en" sz="1300"/>
              <a:t> refugees in </a:t>
            </a:r>
            <a:r>
              <a:rPr lang="en" sz="1300"/>
              <a:t>neighboring</a:t>
            </a:r>
            <a:r>
              <a:rPr lang="en" sz="1300"/>
              <a:t> cities and decreasing refugees in their own city.</a:t>
            </a:r>
            <a:endParaRPr sz="1300"/>
          </a:p>
        </p:txBody>
      </p:sp>
      <p:pic>
        <p:nvPicPr>
          <p:cNvPr id="127" name="Google Shape;127;p21"/>
          <p:cNvPicPr preferRelativeResize="0"/>
          <p:nvPr/>
        </p:nvPicPr>
        <p:blipFill>
          <a:blip r:embed="rId3">
            <a:alphaModFix/>
          </a:blip>
          <a:stretch>
            <a:fillRect/>
          </a:stretch>
        </p:blipFill>
        <p:spPr>
          <a:xfrm>
            <a:off x="168050" y="1582600"/>
            <a:ext cx="5424072" cy="32999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2006350" y="435225"/>
            <a:ext cx="73410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Food insecurity: </a:t>
            </a:r>
            <a:r>
              <a:rPr lang="en" sz="1700">
                <a:solidFill>
                  <a:schemeClr val="dk1"/>
                </a:solidFill>
              </a:rPr>
              <a:t>Millet</a:t>
            </a:r>
            <a:r>
              <a:rPr lang="en" sz="1700">
                <a:solidFill>
                  <a:schemeClr val="dk1"/>
                </a:solidFill>
              </a:rPr>
              <a:t> and wheat availability vs Political Violence</a:t>
            </a:r>
            <a:endParaRPr sz="1700">
              <a:solidFill>
                <a:schemeClr val="dk1"/>
              </a:solidFill>
            </a:endParaRPr>
          </a:p>
        </p:txBody>
      </p:sp>
      <p:sp>
        <p:nvSpPr>
          <p:cNvPr id="133" name="Google Shape;133;p22"/>
          <p:cNvSpPr txBox="1"/>
          <p:nvPr>
            <p:ph idx="2" type="body"/>
          </p:nvPr>
        </p:nvSpPr>
        <p:spPr>
          <a:xfrm>
            <a:off x="5728872" y="1582600"/>
            <a:ext cx="3071400" cy="3002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From both graphs, there could be a possibility that decrease in </a:t>
            </a:r>
            <a:r>
              <a:rPr lang="en" sz="1300"/>
              <a:t>conflicts</a:t>
            </a:r>
            <a:r>
              <a:rPr lang="en" sz="1300"/>
              <a:t> could lead to decrease in food prices, as seen from May - September.</a:t>
            </a:r>
            <a:endParaRPr sz="1300"/>
          </a:p>
          <a:p>
            <a:pPr indent="-311150" lvl="0" marL="457200" rtl="0" algn="l">
              <a:spcBef>
                <a:spcPts val="1200"/>
              </a:spcBef>
              <a:spcAft>
                <a:spcPts val="1200"/>
              </a:spcAft>
              <a:buSzPts val="1300"/>
              <a:buChar char="●"/>
            </a:pPr>
            <a:r>
              <a:rPr lang="en" sz="1300"/>
              <a:t>There is no convincing proof from this analysis that </a:t>
            </a:r>
            <a:r>
              <a:rPr lang="en" sz="1300"/>
              <a:t>political</a:t>
            </a:r>
            <a:r>
              <a:rPr lang="en" sz="1300"/>
              <a:t> violence has led to significant increase in food insecurity. </a:t>
            </a:r>
            <a:endParaRPr sz="1300"/>
          </a:p>
        </p:txBody>
      </p:sp>
      <p:pic>
        <p:nvPicPr>
          <p:cNvPr id="134" name="Google Shape;134;p22"/>
          <p:cNvPicPr preferRelativeResize="0"/>
          <p:nvPr/>
        </p:nvPicPr>
        <p:blipFill>
          <a:blip r:embed="rId3">
            <a:alphaModFix/>
          </a:blip>
          <a:stretch>
            <a:fillRect/>
          </a:stretch>
        </p:blipFill>
        <p:spPr>
          <a:xfrm>
            <a:off x="261850" y="873000"/>
            <a:ext cx="5772324" cy="371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2006350" y="435225"/>
            <a:ext cx="73410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Food insecurity: Millet and wheat availability vs Political Violence</a:t>
            </a:r>
            <a:endParaRPr sz="1700">
              <a:solidFill>
                <a:schemeClr val="dk1"/>
              </a:solidFill>
            </a:endParaRPr>
          </a:p>
        </p:txBody>
      </p:sp>
      <p:sp>
        <p:nvSpPr>
          <p:cNvPr id="140" name="Google Shape;140;p23"/>
          <p:cNvSpPr txBox="1"/>
          <p:nvPr>
            <p:ph idx="2" type="body"/>
          </p:nvPr>
        </p:nvSpPr>
        <p:spPr>
          <a:xfrm>
            <a:off x="5728872" y="1582600"/>
            <a:ext cx="3071400" cy="3002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From both graphs, there could be a possibility that decrease in conflicts could lead to decrease in food prices, as seen from May - September.</a:t>
            </a:r>
            <a:endParaRPr sz="1300"/>
          </a:p>
          <a:p>
            <a:pPr indent="-311150" lvl="0" marL="457200" rtl="0" algn="l">
              <a:spcBef>
                <a:spcPts val="1200"/>
              </a:spcBef>
              <a:spcAft>
                <a:spcPts val="1200"/>
              </a:spcAft>
              <a:buSzPts val="1300"/>
              <a:buChar char="●"/>
            </a:pPr>
            <a:r>
              <a:rPr lang="en" sz="1300"/>
              <a:t>There is no convincing proof from this analysis that political violence has led to significant increase in food insecurity. </a:t>
            </a:r>
            <a:endParaRPr sz="1300"/>
          </a:p>
        </p:txBody>
      </p:sp>
      <p:pic>
        <p:nvPicPr>
          <p:cNvPr id="141" name="Google Shape;141;p23"/>
          <p:cNvPicPr preferRelativeResize="0"/>
          <p:nvPr/>
        </p:nvPicPr>
        <p:blipFill>
          <a:blip r:embed="rId3">
            <a:alphaModFix/>
          </a:blip>
          <a:stretch>
            <a:fillRect/>
          </a:stretch>
        </p:blipFill>
        <p:spPr>
          <a:xfrm>
            <a:off x="152400" y="1223025"/>
            <a:ext cx="5424072" cy="336073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656675" y="156325"/>
            <a:ext cx="5398800" cy="123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700"/>
              <a:t>Methodologies used</a:t>
            </a:r>
            <a:endParaRPr sz="2700"/>
          </a:p>
        </p:txBody>
      </p:sp>
      <p:sp>
        <p:nvSpPr>
          <p:cNvPr id="147" name="Google Shape;147;p24"/>
          <p:cNvSpPr txBox="1"/>
          <p:nvPr/>
        </p:nvSpPr>
        <p:spPr>
          <a:xfrm>
            <a:off x="474225" y="1010975"/>
            <a:ext cx="8192100" cy="3673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Tidyverse &amp; dplyr</a:t>
            </a:r>
            <a:endParaRPr sz="1800">
              <a:solidFill>
                <a:schemeClr val="lt1"/>
              </a:solidFill>
              <a:latin typeface="Lato"/>
              <a:ea typeface="Lato"/>
              <a:cs typeface="Lato"/>
              <a:sym typeface="Lato"/>
            </a:endParaRPr>
          </a:p>
          <a:p>
            <a:pPr indent="-342900" lvl="1" marL="9144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Data </a:t>
            </a:r>
            <a:r>
              <a:rPr lang="en" sz="1800">
                <a:solidFill>
                  <a:schemeClr val="lt1"/>
                </a:solidFill>
                <a:latin typeface="Lato"/>
                <a:ea typeface="Lato"/>
                <a:cs typeface="Lato"/>
                <a:sym typeface="Lato"/>
              </a:rPr>
              <a:t>pipeline</a:t>
            </a:r>
            <a:r>
              <a:rPr lang="en" sz="1800">
                <a:solidFill>
                  <a:schemeClr val="lt1"/>
                </a:solidFill>
                <a:latin typeface="Lato"/>
                <a:ea typeface="Lato"/>
                <a:cs typeface="Lato"/>
                <a:sym typeface="Lato"/>
              </a:rPr>
              <a:t> (%&gt;%) to merge data </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Ggplot2 to visualize data</a:t>
            </a:r>
            <a:endParaRPr sz="1800">
              <a:solidFill>
                <a:schemeClr val="lt1"/>
              </a:solidFill>
              <a:latin typeface="Lato"/>
              <a:ea typeface="Lato"/>
              <a:cs typeface="Lato"/>
              <a:sym typeface="Lato"/>
            </a:endParaRPr>
          </a:p>
          <a:p>
            <a:pPr indent="-342900" lvl="1" marL="9144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Layers (ggplot, geom_line, geom_points, geom_s</a:t>
            </a:r>
            <a:r>
              <a:rPr lang="en" sz="1800">
                <a:solidFill>
                  <a:schemeClr val="lt1"/>
                </a:solidFill>
                <a:latin typeface="Lato"/>
                <a:ea typeface="Lato"/>
                <a:cs typeface="Lato"/>
                <a:sym typeface="Lato"/>
              </a:rPr>
              <a:t>mooth, geom_bar</a:t>
            </a:r>
            <a:endParaRPr sz="1800">
              <a:solidFill>
                <a:schemeClr val="lt1"/>
              </a:solidFill>
              <a:latin typeface="Lato"/>
              <a:ea typeface="Lato"/>
              <a:cs typeface="Lato"/>
              <a:sym typeface="Lato"/>
            </a:endParaRPr>
          </a:p>
          <a:p>
            <a:pPr indent="-342900" lvl="1" marL="9144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Linear regression method</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OSM Geocoding for map generation</a:t>
            </a:r>
            <a:endParaRPr sz="1800">
              <a:solidFill>
                <a:schemeClr val="lt1"/>
              </a:solidFill>
              <a:latin typeface="Lato"/>
              <a:ea typeface="Lato"/>
              <a:cs typeface="Lato"/>
              <a:sym typeface="Lato"/>
            </a:endParaRPr>
          </a:p>
          <a:p>
            <a:pPr indent="-342900" lvl="1" marL="9144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Tmap, sf</a:t>
            </a:r>
            <a:endParaRPr sz="1800">
              <a:solidFill>
                <a:schemeClr val="lt1"/>
              </a:solidFill>
              <a:latin typeface="Lato"/>
              <a:ea typeface="Lato"/>
              <a:cs typeface="Lato"/>
              <a:sym typeface="Lato"/>
            </a:endParaRPr>
          </a:p>
          <a:p>
            <a:pPr indent="-342900" lvl="1" marL="9144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geocode() to generate Latitude and Longitude coordinates</a:t>
            </a:r>
            <a:endParaRPr sz="1800">
              <a:solidFill>
                <a:schemeClr val="lt1"/>
              </a:solidFill>
              <a:latin typeface="Lato"/>
              <a:ea typeface="Lato"/>
              <a:cs typeface="Lato"/>
              <a:sym typeface="Lato"/>
            </a:endParaRPr>
          </a:p>
          <a:p>
            <a:pPr indent="-342900" lvl="1" marL="9144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Leaflet</a:t>
            </a:r>
            <a:endParaRPr sz="1800">
              <a:solidFill>
                <a:schemeClr val="lt1"/>
              </a:solidFill>
              <a:latin typeface="Lato"/>
              <a:ea typeface="Lato"/>
              <a:cs typeface="Lato"/>
              <a:sym typeface="Lato"/>
            </a:endParaRPr>
          </a:p>
          <a:p>
            <a:pPr indent="-342900" lvl="2" marL="13716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addTiles() and addCircleMarkers() to mark data on Sudan Map</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Exploratory Data analysis</a:t>
            </a:r>
            <a:endParaRPr sz="1800">
              <a:solidFill>
                <a:schemeClr val="lt1"/>
              </a:solidFill>
              <a:latin typeface="Lato"/>
              <a:ea typeface="Lato"/>
              <a:cs typeface="Lato"/>
              <a:sym typeface="Lato"/>
            </a:endParaRPr>
          </a:p>
          <a:p>
            <a:pPr indent="-342900" lvl="1" marL="9144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str(), head(), summarize(), mutate()</a:t>
            </a:r>
            <a:endParaRPr sz="1800">
              <a:solidFill>
                <a:schemeClr val="l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641025" y="156350"/>
            <a:ext cx="5398800" cy="123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700"/>
              <a:t>Credits and Datasets</a:t>
            </a:r>
            <a:endParaRPr sz="2700"/>
          </a:p>
        </p:txBody>
      </p:sp>
      <p:sp>
        <p:nvSpPr>
          <p:cNvPr id="153" name="Google Shape;153;p25"/>
          <p:cNvSpPr txBox="1"/>
          <p:nvPr/>
        </p:nvSpPr>
        <p:spPr>
          <a:xfrm>
            <a:off x="474225" y="1010975"/>
            <a:ext cx="8192100" cy="3673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Lato"/>
              <a:buChar char="-"/>
            </a:pPr>
            <a:r>
              <a:rPr lang="en" sz="1800" u="sng">
                <a:solidFill>
                  <a:schemeClr val="lt1"/>
                </a:solidFill>
                <a:latin typeface="Lato"/>
                <a:ea typeface="Lato"/>
                <a:cs typeface="Lato"/>
                <a:sym typeface="Lato"/>
                <a:hlinkClick r:id="rId3">
                  <a:extLst>
                    <a:ext uri="{A12FA001-AC4F-418D-AE19-62706E023703}">
                      <ahyp:hlinkClr val="tx"/>
                    </a:ext>
                  </a:extLst>
                </a:hlinkClick>
              </a:rPr>
              <a:t>https://data.unhcr.org/en/situations/sudansituation</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u="sng">
                <a:solidFill>
                  <a:schemeClr val="lt1"/>
                </a:solidFill>
                <a:latin typeface="Lato"/>
                <a:ea typeface="Lato"/>
                <a:cs typeface="Lato"/>
                <a:sym typeface="Lato"/>
                <a:hlinkClick r:id="rId4">
                  <a:extLst>
                    <a:ext uri="{A12FA001-AC4F-418D-AE19-62706E023703}">
                      <ahyp:hlinkClr val="tx"/>
                    </a:ext>
                  </a:extLst>
                </a:hlinkClick>
              </a:rPr>
              <a:t>https://data.humdata.org/dataset/sudan-acled-conflict-data</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u="sng">
                <a:solidFill>
                  <a:schemeClr val="lt1"/>
                </a:solidFill>
                <a:latin typeface="Lato"/>
                <a:ea typeface="Lato"/>
                <a:cs typeface="Lato"/>
                <a:sym typeface="Lato"/>
                <a:hlinkClick r:id="rId5">
                  <a:extLst>
                    <a:ext uri="{A12FA001-AC4F-418D-AE19-62706E023703}">
                      <ahyp:hlinkClr val="tx"/>
                    </a:ext>
                  </a:extLst>
                </a:hlinkClick>
              </a:rPr>
              <a:t>https://acleddata.com/data-export-tool/</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https://data.unhcr.org/en/country/sdn</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u="sng">
                <a:solidFill>
                  <a:schemeClr val="lt1"/>
                </a:solidFill>
                <a:latin typeface="Lato"/>
                <a:ea typeface="Lato"/>
                <a:cs typeface="Lato"/>
                <a:sym typeface="Lato"/>
                <a:hlinkClick r:id="rId6">
                  <a:extLst>
                    <a:ext uri="{A12FA001-AC4F-418D-AE19-62706E023703}">
                      <ahyp:hlinkClr val="tx"/>
                    </a:ext>
                  </a:extLst>
                </a:hlinkClick>
              </a:rPr>
              <a:t>https://www.ipcinfo.org/ipc-country-analysis/details-map/en/c/1156504/?iso3=SDN</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u="sng">
                <a:solidFill>
                  <a:schemeClr val="lt1"/>
                </a:solidFill>
                <a:latin typeface="Lato"/>
                <a:ea typeface="Lato"/>
                <a:cs typeface="Lato"/>
                <a:sym typeface="Lato"/>
                <a:hlinkClick r:id="rId7">
                  <a:extLst>
                    <a:ext uri="{A12FA001-AC4F-418D-AE19-62706E023703}">
                      <ahyp:hlinkClr val="tx"/>
                    </a:ext>
                  </a:extLst>
                </a:hlinkClick>
              </a:rPr>
              <a:t>https://fews.net/</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ChatGpt: Generative AI</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R Studio</a:t>
            </a:r>
            <a:endParaRPr sz="1800">
              <a:solidFill>
                <a:schemeClr val="lt1"/>
              </a:solidFill>
              <a:latin typeface="Lato"/>
              <a:ea typeface="Lato"/>
              <a:cs typeface="Lato"/>
              <a:sym typeface="Lato"/>
            </a:endParaRPr>
          </a:p>
          <a:p>
            <a:pPr indent="-342900" lvl="0" marL="457200" rtl="0" algn="l">
              <a:spcBef>
                <a:spcPts val="0"/>
              </a:spcBef>
              <a:spcAft>
                <a:spcPts val="0"/>
              </a:spcAft>
              <a:buClr>
                <a:schemeClr val="lt1"/>
              </a:buClr>
              <a:buSzPts val="1800"/>
              <a:buFont typeface="Lato"/>
              <a:buChar char="-"/>
            </a:pPr>
            <a:r>
              <a:rPr lang="en" sz="1800">
                <a:solidFill>
                  <a:schemeClr val="lt1"/>
                </a:solidFill>
                <a:latin typeface="Lato"/>
                <a:ea typeface="Lato"/>
                <a:cs typeface="Lato"/>
                <a:sym typeface="Lato"/>
              </a:rPr>
              <a:t>Google Slides</a:t>
            </a:r>
            <a:endParaRPr sz="1800">
              <a:solidFill>
                <a:schemeClr val="lt1"/>
              </a:solidFill>
              <a:latin typeface="Lato"/>
              <a:ea typeface="Lato"/>
              <a:cs typeface="Lato"/>
              <a:sym typeface="Lato"/>
            </a:endParaRPr>
          </a:p>
          <a:p>
            <a:pPr indent="0" lvl="0" marL="457200" rtl="0" algn="l">
              <a:spcBef>
                <a:spcPts val="0"/>
              </a:spcBef>
              <a:spcAft>
                <a:spcPts val="0"/>
              </a:spcAft>
              <a:buNone/>
            </a:pPr>
            <a:r>
              <a:t/>
            </a:r>
            <a:endParaRPr sz="1800">
              <a:solidFill>
                <a:schemeClr val="accen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